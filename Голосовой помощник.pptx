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7"/>
  </p:notesMasterIdLst>
  <p:handoutMasterIdLst>
    <p:handoutMasterId r:id="rId18"/>
  </p:handout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</p:sldIdLst>
  <p:sldSz cx="12192000" cy="6858000"/>
  <p:notesSz cx="7103745" cy="10234295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2B2B2"/>
    <a:srgbClr val="202020"/>
    <a:srgbClr val="323232"/>
    <a:srgbClr val="CC3300"/>
    <a:srgbClr val="CC0000"/>
    <a:srgbClr val="FF3300"/>
    <a:srgbClr val="990000"/>
    <a:srgbClr val="FF8D41"/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MasterView">
  <p:normalViewPr horzBarState="maximized">
    <p:restoredLeft sz="12278" autoAdjust="0"/>
    <p:restoredTop sz="94660"/>
  </p:normalViewPr>
  <p:slideViewPr>
    <p:cSldViewPr snapToGrid="0" showGuides="1">
      <p:cViewPr varScale="1">
        <p:scale>
          <a:sx n="117" d="100"/>
          <a:sy n="117" d="100"/>
        </p:scale>
        <p:origin x="510" y="102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0" cy="720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1" Type="http://schemas.openxmlformats.org/officeDocument/2006/relationships/tableStyles" Target="tableStyles.xml"/><Relationship Id="rId20" Type="http://schemas.openxmlformats.org/officeDocument/2006/relationships/viewProps" Target="viewProps.xml"/><Relationship Id="rId2" Type="http://schemas.openxmlformats.org/officeDocument/2006/relationships/theme" Target="theme/theme1.xml"/><Relationship Id="rId19" Type="http://schemas.openxmlformats.org/officeDocument/2006/relationships/presProps" Target="presProps.xml"/><Relationship Id="rId18" Type="http://schemas.openxmlformats.org/officeDocument/2006/relationships/handoutMaster" Target="handoutMasters/handoutMaster1.xml"/><Relationship Id="rId17" Type="http://schemas.openxmlformats.org/officeDocument/2006/relationships/notesMaster" Target="notesMasters/notesMaster1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45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4023812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45"/>
            </a:lvl1pPr>
          </a:lstStyle>
          <a:p>
            <a:fld id="{0F9B84EA-7D68-4D60-9CB1-D50884785D1C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45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4023812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45"/>
            </a:lvl1pPr>
          </a:lstStyle>
          <a:p>
            <a:fld id="{8D4E0FC9-F1F8-4FAE-9988-3BA365CFD46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dt" idx="1"/>
          </p:nvPr>
        </p:nvSpPr>
        <p:spPr>
          <a:xfrm>
            <a:off x="4024313" y="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C8D182-E4C8-4120-9249-FC9774456FFA}" type="datetimeFigureOut">
              <a:rPr lang="en-US" smtClean="0"/>
            </a:fld>
            <a:endParaRPr lang="en-US"/>
          </a:p>
        </p:txBody>
      </p:sp>
      <p:sp>
        <p:nvSpPr>
          <p:cNvPr id="4" name="Slide Image Placehoder 3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 Placeholder 4"/>
          <p:cNvSpPr>
            <a:spLocks noGrp="1"/>
          </p:cNvSpPr>
          <p:nvPr>
            <p:ph type="body" sz="quarter" idx="3"/>
          </p:nvPr>
        </p:nvSpPr>
        <p:spPr>
          <a:xfrm>
            <a:off x="711200" y="4926013"/>
            <a:ext cx="5683250" cy="40290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72185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4313" y="972185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D0DACE-38E0-42D2-9336-2B707D34BC6D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051" name="Rectangle 3"/>
          <p:cNvSpPr>
            <a:spLocks noGrp="1" noChangeArrowheads="1"/>
          </p:cNvSpPr>
          <p:nvPr>
            <p:ph type="ctrTitle"/>
          </p:nvPr>
        </p:nvSpPr>
        <p:spPr>
          <a:xfrm>
            <a:off x="2063751" y="1701800"/>
            <a:ext cx="9211733" cy="1082675"/>
          </a:xfrm>
        </p:spPr>
        <p:txBody>
          <a:bodyPr/>
          <a:lstStyle>
            <a:lvl1pPr algn="r">
              <a:defRPr/>
            </a:lvl1pPr>
          </a:lstStyle>
          <a:p>
            <a:pPr lvl="0"/>
            <a:r>
              <a:rPr lang="en-US" altLang="zh-CN" noProof="0" smtClean="0"/>
              <a:t>Click to edit Master title style</a:t>
            </a:r>
            <a:endParaRPr lang="en-US" altLang="zh-CN" noProof="0" smtClean="0"/>
          </a:p>
        </p:txBody>
      </p:sp>
      <p:sp>
        <p:nvSpPr>
          <p:cNvPr id="2052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2063751" y="2927350"/>
            <a:ext cx="9218083" cy="1752600"/>
          </a:xfrm>
        </p:spPr>
        <p:txBody>
          <a:bodyPr/>
          <a:lstStyle>
            <a:lvl1pPr marL="0" indent="0" algn="r">
              <a:buFontTx/>
              <a:buNone/>
              <a:defRPr/>
            </a:lvl1pPr>
          </a:lstStyle>
          <a:p>
            <a:pPr lvl="0"/>
            <a:r>
              <a:rPr lang="en-US" altLang="zh-CN" noProof="0" smtClean="0"/>
              <a:t>Click to edit Master subtitle style</a:t>
            </a:r>
            <a:endParaRPr lang="en-US" altLang="zh-CN" noProof="0" smtClean="0"/>
          </a:p>
        </p:txBody>
      </p:sp>
      <p:sp>
        <p:nvSpPr>
          <p:cNvPr id="9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10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11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Замещающая дата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Замещающий 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6" name="Замещающий 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3"/>
            <a:ext cx="105156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Замещающая дата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Замещающий 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6" name="Замещающий 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174750"/>
            <a:ext cx="5384800" cy="49530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174750"/>
            <a:ext cx="5384800" cy="49530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Замещающая дата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6" name="Замещающий 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7" name="Замещающий 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7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0317" y="1681163"/>
            <a:ext cx="5158316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40317" y="2505075"/>
            <a:ext cx="5158316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71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71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Замещающая дата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8" name="Замещающий 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9" name="Замещающий 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Замещающая дата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4" name="Замещающий 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5" name="Замещающий 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мещающая дата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3" name="Замещающий 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4" name="Замещающий 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7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717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0317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Замещающая дата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  <p:sp>
        <p:nvSpPr>
          <p:cNvPr id="6" name="Замещающий 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  <p:sp>
        <p:nvSpPr>
          <p:cNvPr id="7" name="Замещающий 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97D7747-D9D0-4222-AE01-C647B9939E3B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SimSun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</p:spTree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7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717" y="987425"/>
            <a:ext cx="6172200" cy="4873625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0317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Замещающая дата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9EFD9D74-47D9-4702-A33C-335B63B48DBF}" type="datetimeFigureOut">
              <a:rPr lang="en-US" smtClean="0"/>
            </a:fld>
            <a:endParaRPr lang="en-US" dirty="0"/>
          </a:p>
        </p:txBody>
      </p:sp>
      <p:sp>
        <p:nvSpPr>
          <p:cNvPr id="6" name="Замещающий 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 dirty="0"/>
          </a:p>
        </p:txBody>
      </p:sp>
      <p:sp>
        <p:nvSpPr>
          <p:cNvPr id="7" name="Замещающий 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FABC47A4-756D-490B-A52F-7D9E2C9FC05F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Замещающая дата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  <p:sp>
        <p:nvSpPr>
          <p:cNvPr id="5" name="Замещающий 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  <p:sp>
        <p:nvSpPr>
          <p:cNvPr id="6" name="Замещающий 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97D7747-D9D0-4222-AE01-C647B9939E3B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SimSun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</p:spTree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190500"/>
            <a:ext cx="2743200" cy="593725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190500"/>
            <a:ext cx="8026400" cy="593725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Замещающая дата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Замещающий 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6" name="Замещающий 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image" Target="../media/image2.jpe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1026" name="Picture 3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-8467" y="0"/>
            <a:ext cx="12200467" cy="6858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27" name="Rectangle 3"/>
          <p:cNvSpPr>
            <a:spLocks noGrp="1"/>
          </p:cNvSpPr>
          <p:nvPr>
            <p:ph type="title"/>
          </p:nvPr>
        </p:nvSpPr>
        <p:spPr>
          <a:xfrm>
            <a:off x="609600" y="190500"/>
            <a:ext cx="10972800" cy="582613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p>
            <a:pPr lvl="0"/>
            <a:r>
              <a:rPr lang="en-US" altLang="zh-CN" dirty="0"/>
              <a:t>Click to edit Master title style</a:t>
            </a:r>
            <a:endParaRPr lang="en-US" altLang="zh-CN" dirty="0"/>
          </a:p>
        </p:txBody>
      </p:sp>
      <p:sp>
        <p:nvSpPr>
          <p:cNvPr id="1028" name="Rectangle 4"/>
          <p:cNvSpPr>
            <a:spLocks noGrp="1"/>
          </p:cNvSpPr>
          <p:nvPr>
            <p:ph type="body" idx="1"/>
          </p:nvPr>
        </p:nvSpPr>
        <p:spPr>
          <a:xfrm>
            <a:off x="609600" y="1174750"/>
            <a:ext cx="10972800" cy="495300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/>
            <a:r>
              <a:rPr lang="en-US" altLang="zh-CN" dirty="0"/>
              <a:t>Click to edit Master text styles</a:t>
            </a:r>
            <a:endParaRPr lang="en-US" altLang="zh-CN" dirty="0"/>
          </a:p>
          <a:p>
            <a:pPr lvl="1"/>
            <a:r>
              <a:rPr lang="en-US" altLang="zh-CN" dirty="0"/>
              <a:t>Second level</a:t>
            </a:r>
            <a:endParaRPr lang="en-US" altLang="zh-CN" dirty="0"/>
          </a:p>
          <a:p>
            <a:pPr lvl="2"/>
            <a:r>
              <a:rPr lang="en-US" altLang="zh-CN" dirty="0"/>
              <a:t>Third level</a:t>
            </a:r>
            <a:endParaRPr lang="en-US" altLang="zh-CN" dirty="0"/>
          </a:p>
          <a:p>
            <a:pPr lvl="3"/>
            <a:r>
              <a:rPr lang="en-US" altLang="zh-CN" dirty="0"/>
              <a:t>Fourth level</a:t>
            </a:r>
            <a:endParaRPr lang="en-US" altLang="zh-CN" dirty="0"/>
          </a:p>
          <a:p>
            <a:pPr lvl="4"/>
            <a:r>
              <a:rPr lang="en-US" altLang="zh-CN" dirty="0"/>
              <a:t>Fifth level</a:t>
            </a:r>
            <a:endParaRPr lang="en-US" altLang="zh-CN" dirty="0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 sz="1400"/>
            </a:lvl1pPr>
          </a:lstStyle>
          <a:p>
            <a:fld id="{760FBDFE-C587-4B4C-A407-44438C67B59E}" type="datetimeFigureOut">
              <a:rPr lang="en-US" smtClean="0"/>
            </a:fld>
            <a:endParaRPr lang="en-US" dirty="0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ctr">
              <a:defRPr sz="1400"/>
            </a:lvl1pPr>
          </a:lstStyle>
          <a:p>
            <a:endParaRPr lang="en-US"/>
          </a:p>
        </p:txBody>
      </p:sp>
      <p:sp>
        <p:nvSpPr>
          <p:cNvPr id="1031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>
              <a:defRPr sz="1400"/>
            </a:lvl1pPr>
          </a:lstStyle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l" rtl="0" fontAlgn="base">
        <a:spcBef>
          <a:spcPct val="0"/>
        </a:spcBef>
        <a:spcAft>
          <a:spcPct val="0"/>
        </a:spcAft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2pPr>
      <a:lvl3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3pPr>
      <a:lvl4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4pPr>
      <a:lvl5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jpe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jpe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image" Target="../media/image8.png"/><Relationship Id="rId1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image" Target="../media/image11.png"/><Relationship Id="rId1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image" Target="../media/image13.png"/><Relationship Id="rId1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image" Target="../media/image15.png"/><Relationship Id="rId1" Type="http://schemas.openxmlformats.org/officeDocument/2006/relationships/image" Target="../media/image1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image" Target="../media/image17.png"/><Relationship Id="rId1" Type="http://schemas.openxmlformats.org/officeDocument/2006/relationships/image" Target="../media/image1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image" Target="../media/image19.png"/><Relationship Id="rId1" Type="http://schemas.openxmlformats.org/officeDocument/2006/relationships/image" Target="../media/image18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20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21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26745" y="307975"/>
            <a:ext cx="10942955" cy="1370330"/>
          </a:xfrm>
        </p:spPr>
        <p:txBody>
          <a:bodyPr anchor="t" anchorCtr="0"/>
          <a:lstStyle/>
          <a:p>
            <a:pPr marL="0" indent="0" algn="ctr" eaLnBrk="1" latinLnBrk="0" hangingPunct="1">
              <a:lnSpc>
                <a:spcPct val="150000"/>
              </a:lnSpc>
            </a:pPr>
            <a:r>
              <a:rPr lang="ru-RU" altLang="en-US" sz="3200" b="1">
                <a:latin typeface="Times New Roman" panose="02020603050405020304" charset="0"/>
                <a:cs typeface="Times New Roman" panose="02020603050405020304" charset="0"/>
              </a:rPr>
              <a:t>Голосовой помощник</a:t>
            </a:r>
            <a:br>
              <a:rPr lang="ru-RU" altLang="en-US" b="1">
                <a:latin typeface="Times New Roman" panose="02020603050405020304" charset="0"/>
                <a:cs typeface="Times New Roman" panose="02020603050405020304" charset="0"/>
              </a:rPr>
            </a:br>
            <a:r>
              <a:rPr lang="ru-RU" altLang="en-US" sz="2400">
                <a:latin typeface="Times New Roman" panose="02020603050405020304" charset="0"/>
                <a:cs typeface="Times New Roman" panose="02020603050405020304" charset="0"/>
              </a:rPr>
              <a:t>ПРИКЛАДНОЙ ПРОЕКТ</a:t>
            </a:r>
            <a:endParaRPr lang="ru-RU" altLang="en-US" sz="24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>
          <a:xfrm>
            <a:off x="274955" y="1677670"/>
            <a:ext cx="11301095" cy="5052695"/>
          </a:xfrm>
        </p:spPr>
        <p:txBody>
          <a:bodyPr anchor="t" anchorCtr="0"/>
          <a:lstStyle/>
          <a:p>
            <a:pPr algn="ctr" eaLnBrk="1" latinLnBrk="0" hangingPunct="1">
              <a:lnSpc>
                <a:spcPct val="150000"/>
              </a:lnSpc>
              <a:spcBef>
                <a:spcPts val="0"/>
              </a:spcBef>
            </a:pPr>
            <a:r>
              <a:rPr lang="en-US" sz="1400">
                <a:latin typeface="Times New Roman" panose="02020603050405020304" charset="0"/>
                <a:cs typeface="Times New Roman" panose="02020603050405020304" charset="0"/>
              </a:rPr>
              <a:t>Департамент образования Администрации города Екатеринбурга</a:t>
            </a:r>
            <a:endParaRPr lang="en-US" sz="1400">
              <a:latin typeface="Times New Roman" panose="02020603050405020304" charset="0"/>
              <a:cs typeface="Times New Roman" panose="02020603050405020304" charset="0"/>
            </a:endParaRPr>
          </a:p>
          <a:p>
            <a:pPr algn="ctr" eaLnBrk="1" latinLnBrk="0" hangingPunct="1">
              <a:lnSpc>
                <a:spcPct val="150000"/>
              </a:lnSpc>
              <a:spcBef>
                <a:spcPts val="0"/>
              </a:spcBef>
            </a:pPr>
            <a:r>
              <a:rPr lang="en-US" sz="1400">
                <a:latin typeface="Times New Roman" panose="02020603050405020304" charset="0"/>
                <a:cs typeface="Times New Roman" panose="02020603050405020304" charset="0"/>
              </a:rPr>
              <a:t>Муниципальное образование «город Екатеринбург»</a:t>
            </a:r>
            <a:endParaRPr lang="en-US" sz="1400">
              <a:latin typeface="Times New Roman" panose="02020603050405020304" charset="0"/>
              <a:cs typeface="Times New Roman" panose="02020603050405020304" charset="0"/>
            </a:endParaRPr>
          </a:p>
          <a:p>
            <a:pPr algn="ctr" eaLnBrk="1" latinLnBrk="0" hangingPunct="1">
              <a:lnSpc>
                <a:spcPct val="150000"/>
              </a:lnSpc>
              <a:spcBef>
                <a:spcPts val="0"/>
              </a:spcBef>
            </a:pPr>
            <a:r>
              <a:rPr lang="en-US" sz="1400">
                <a:latin typeface="Times New Roman" panose="02020603050405020304" charset="0"/>
                <a:cs typeface="Times New Roman" panose="02020603050405020304" charset="0"/>
              </a:rPr>
              <a:t>Железнодорожный район</a:t>
            </a:r>
            <a:endParaRPr lang="en-US" sz="1400">
              <a:latin typeface="Times New Roman" panose="02020603050405020304" charset="0"/>
              <a:cs typeface="Times New Roman" panose="02020603050405020304" charset="0"/>
            </a:endParaRPr>
          </a:p>
          <a:p>
            <a:pPr algn="ctr" eaLnBrk="1" latinLnBrk="0" hangingPunct="1">
              <a:lnSpc>
                <a:spcPct val="150000"/>
              </a:lnSpc>
              <a:spcBef>
                <a:spcPts val="0"/>
              </a:spcBef>
            </a:pPr>
            <a:r>
              <a:rPr lang="en-US" sz="1400">
                <a:latin typeface="Times New Roman" panose="02020603050405020304" charset="0"/>
                <a:cs typeface="Times New Roman" panose="02020603050405020304" charset="0"/>
              </a:rPr>
              <a:t>Муниципальное автономное общеобразовательное учреждение — средняя общеобразовательная школа с углубленным изучением отдельных предметов №148</a:t>
            </a:r>
            <a:endParaRPr lang="en-US" sz="1400">
              <a:latin typeface="Times New Roman" panose="02020603050405020304" charset="0"/>
              <a:cs typeface="Times New Roman" panose="02020603050405020304" charset="0"/>
            </a:endParaRPr>
          </a:p>
          <a:p>
            <a:pPr algn="ctr" eaLnBrk="1" latinLnBrk="0" hangingPunct="1">
              <a:spcBef>
                <a:spcPts val="0"/>
              </a:spcBef>
            </a:pPr>
            <a:endParaRPr lang="en-US" sz="1400" b="1">
              <a:latin typeface="Times New Roman" panose="02020603050405020304" charset="0"/>
              <a:cs typeface="Times New Roman" panose="02020603050405020304" charset="0"/>
            </a:endParaRPr>
          </a:p>
          <a:p>
            <a:pPr algn="ctr" eaLnBrk="1" latinLnBrk="0" hangingPunct="1">
              <a:spcBef>
                <a:spcPts val="0"/>
              </a:spcBef>
            </a:pPr>
            <a:endParaRPr lang="en-US" sz="1400" b="1">
              <a:latin typeface="Times New Roman" panose="02020603050405020304" charset="0"/>
              <a:cs typeface="Times New Roman" panose="02020603050405020304" charset="0"/>
            </a:endParaRPr>
          </a:p>
          <a:p>
            <a:pPr algn="r" eaLnBrk="1" latinLnBrk="0" hangingPunct="1">
              <a:lnSpc>
                <a:spcPct val="150000"/>
              </a:lnSpc>
              <a:spcBef>
                <a:spcPts val="0"/>
              </a:spcBef>
            </a:pPr>
            <a:r>
              <a:rPr lang="en-US" sz="1400">
                <a:latin typeface="Times New Roman" panose="02020603050405020304" charset="0"/>
                <a:cs typeface="Times New Roman" panose="02020603050405020304" charset="0"/>
              </a:rPr>
              <a:t>Направление: Информационные технологии (ИТ)</a:t>
            </a:r>
            <a:endParaRPr lang="en-US" sz="1400">
              <a:latin typeface="Times New Roman" panose="02020603050405020304" charset="0"/>
              <a:cs typeface="Times New Roman" panose="02020603050405020304" charset="0"/>
            </a:endParaRPr>
          </a:p>
          <a:p>
            <a:pPr algn="r" eaLnBrk="1" latinLnBrk="0" hangingPunct="1">
              <a:lnSpc>
                <a:spcPct val="150000"/>
              </a:lnSpc>
              <a:spcBef>
                <a:spcPts val="0"/>
              </a:spcBef>
              <a:buClrTx/>
              <a:buSzTx/>
              <a:buNone/>
            </a:pPr>
            <a:r>
              <a:rPr lang="en-US" sz="1400">
                <a:latin typeface="Times New Roman" panose="02020603050405020304" charset="0"/>
                <a:cs typeface="Times New Roman" panose="02020603050405020304" charset="0"/>
              </a:rPr>
              <a:t>Предметная область: Разработка голосовых интерфейсов</a:t>
            </a:r>
            <a:endParaRPr lang="en-US" sz="1400">
              <a:latin typeface="Times New Roman" panose="02020603050405020304" charset="0"/>
              <a:cs typeface="Times New Roman" panose="02020603050405020304" charset="0"/>
            </a:endParaRPr>
          </a:p>
          <a:p>
            <a:pPr algn="r" eaLnBrk="1" latinLnBrk="0" hangingPunct="1">
              <a:lnSpc>
                <a:spcPct val="150000"/>
              </a:lnSpc>
              <a:spcBef>
                <a:spcPts val="0"/>
              </a:spcBef>
              <a:buClrTx/>
              <a:buSzTx/>
              <a:buNone/>
            </a:pPr>
            <a:r>
              <a:rPr lang="en-US" sz="1400">
                <a:latin typeface="Times New Roman" panose="02020603050405020304" charset="0"/>
                <a:cs typeface="Times New Roman" panose="02020603050405020304" charset="0"/>
              </a:rPr>
              <a:t> и искусственный интеллект</a:t>
            </a:r>
            <a:endParaRPr lang="en-US" sz="1400">
              <a:latin typeface="Times New Roman" panose="02020603050405020304" charset="0"/>
              <a:cs typeface="Times New Roman" panose="02020603050405020304" charset="0"/>
            </a:endParaRPr>
          </a:p>
          <a:p>
            <a:pPr algn="r" eaLnBrk="1" latinLnBrk="0" hangingPunct="1">
              <a:lnSpc>
                <a:spcPct val="150000"/>
              </a:lnSpc>
              <a:spcBef>
                <a:spcPts val="0"/>
              </a:spcBef>
            </a:pPr>
            <a:r>
              <a:rPr lang="en-US" sz="1400">
                <a:latin typeface="Times New Roman" panose="02020603050405020304" charset="0"/>
                <a:cs typeface="Times New Roman" panose="02020603050405020304" charset="0"/>
                <a:sym typeface="+mn-ea"/>
              </a:rPr>
              <a:t>Автор проекта: Кондратьев Дмитрий Андреевич, 10А класс</a:t>
            </a:r>
            <a:endParaRPr lang="en-US" sz="1400">
              <a:latin typeface="Times New Roman" panose="02020603050405020304" charset="0"/>
              <a:cs typeface="Times New Roman" panose="02020603050405020304" charset="0"/>
            </a:endParaRPr>
          </a:p>
          <a:p>
            <a:pPr algn="r" eaLnBrk="1" latinLnBrk="0" hangingPunct="1">
              <a:lnSpc>
                <a:spcPct val="150000"/>
              </a:lnSpc>
              <a:spcBef>
                <a:spcPts val="0"/>
              </a:spcBef>
            </a:pPr>
            <a:r>
              <a:rPr lang="en-US" sz="1400">
                <a:latin typeface="Times New Roman" panose="02020603050405020304" charset="0"/>
                <a:cs typeface="Times New Roman" panose="02020603050405020304" charset="0"/>
                <a:sym typeface="+mn-ea"/>
              </a:rPr>
              <a:t>Научный руководитель проекта: Басалаева Елена Викторовна,</a:t>
            </a:r>
            <a:endParaRPr lang="en-US" sz="1400">
              <a:latin typeface="Times New Roman" panose="02020603050405020304" charset="0"/>
              <a:cs typeface="Times New Roman" panose="02020603050405020304" charset="0"/>
            </a:endParaRPr>
          </a:p>
          <a:p>
            <a:pPr algn="r" eaLnBrk="1" latinLnBrk="0" hangingPunct="1">
              <a:lnSpc>
                <a:spcPct val="150000"/>
              </a:lnSpc>
              <a:spcBef>
                <a:spcPts val="0"/>
              </a:spcBef>
            </a:pPr>
            <a:r>
              <a:rPr lang="en-US" sz="1400">
                <a:latin typeface="Times New Roman" panose="02020603050405020304" charset="0"/>
                <a:cs typeface="Times New Roman" panose="02020603050405020304" charset="0"/>
                <a:sym typeface="+mn-ea"/>
              </a:rPr>
              <a:t>учитель французского языка</a:t>
            </a:r>
            <a:endParaRPr lang="en-US" sz="1400">
              <a:latin typeface="Times New Roman" panose="02020603050405020304" charset="0"/>
              <a:cs typeface="Times New Roman" panose="02020603050405020304" charset="0"/>
            </a:endParaRPr>
          </a:p>
          <a:p>
            <a:pPr algn="ctr" eaLnBrk="1" latinLnBrk="0" hangingPunct="1">
              <a:lnSpc>
                <a:spcPct val="150000"/>
              </a:lnSpc>
              <a:spcBef>
                <a:spcPts val="0"/>
              </a:spcBef>
            </a:pPr>
            <a:endParaRPr lang="en-US" sz="1400">
              <a:latin typeface="Times New Roman" panose="02020603050405020304" charset="0"/>
              <a:cs typeface="Times New Roman" panose="02020603050405020304" charset="0"/>
            </a:endParaRPr>
          </a:p>
          <a:p>
            <a:pPr algn="ctr" eaLnBrk="1" latinLnBrk="0" hangingPunct="1">
              <a:lnSpc>
                <a:spcPct val="150000"/>
              </a:lnSpc>
              <a:spcBef>
                <a:spcPts val="0"/>
              </a:spcBef>
            </a:pPr>
            <a:r>
              <a:rPr lang="en-US" sz="1400">
                <a:latin typeface="Times New Roman" panose="02020603050405020304" charset="0"/>
                <a:cs typeface="Times New Roman" panose="02020603050405020304" charset="0"/>
              </a:rPr>
              <a:t>г. Екатеринбург</a:t>
            </a:r>
            <a:endParaRPr lang="en-US" sz="1400">
              <a:latin typeface="Times New Roman" panose="02020603050405020304" charset="0"/>
              <a:cs typeface="Times New Roman" panose="02020603050405020304" charset="0"/>
            </a:endParaRPr>
          </a:p>
          <a:p>
            <a:pPr algn="ctr" eaLnBrk="1" latinLnBrk="0" hangingPunct="1">
              <a:lnSpc>
                <a:spcPct val="150000"/>
              </a:lnSpc>
              <a:spcBef>
                <a:spcPts val="0"/>
              </a:spcBef>
            </a:pPr>
            <a:r>
              <a:rPr lang="en-US" sz="1400">
                <a:latin typeface="Times New Roman" panose="02020603050405020304" charset="0"/>
                <a:cs typeface="Times New Roman" panose="02020603050405020304" charset="0"/>
              </a:rPr>
              <a:t>2024</a:t>
            </a:r>
            <a:endParaRPr lang="en-US" sz="1400"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3" name="Изображение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5635" y="3429000"/>
            <a:ext cx="3007360" cy="300736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p>
            <a:pPr algn="ctr"/>
            <a:r>
              <a:rPr lang="ru-RU" altLang="en-US" sz="2400" b="1">
                <a:latin typeface="Times New Roman" panose="02020603050405020304" charset="0"/>
                <a:cs typeface="Times New Roman" panose="02020603050405020304" charset="0"/>
              </a:rPr>
              <a:t>Введение в разработку голосового помощника</a:t>
            </a:r>
            <a:endParaRPr lang="ru-RU" altLang="en-US" sz="2400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" name="Замещающее содержимое 2"/>
          <p:cNvSpPr>
            <a:spLocks noGrp="1"/>
          </p:cNvSpPr>
          <p:nvPr>
            <p:ph idx="1"/>
          </p:nvPr>
        </p:nvSpPr>
        <p:spPr>
          <a:xfrm>
            <a:off x="609600" y="1095375"/>
            <a:ext cx="4239260" cy="4946650"/>
          </a:xfrm>
        </p:spPr>
        <p:txBody>
          <a:bodyPr/>
          <a:p>
            <a:pPr marL="0" indent="539750" algn="just" eaLnBrk="1" latinLnBrk="0" hangingPunct="1">
              <a:lnSpc>
                <a:spcPct val="150000"/>
              </a:lnSpc>
              <a:spcBef>
                <a:spcPts val="0"/>
              </a:spcBef>
              <a:buNone/>
            </a:pPr>
            <a:r>
              <a:rPr lang="ru-RU" altLang="en-US" sz="1400">
                <a:latin typeface="Times New Roman" panose="02020603050405020304" charset="0"/>
                <a:cs typeface="Times New Roman" panose="02020603050405020304" charset="0"/>
              </a:rPr>
              <a:t>Голосовые помощники облегчают взаимодействие с ПК, улучшая производительность. Этот проект исследует создание универсального помощника с настраиваемыми функциями, доступными даже для тех</a:t>
            </a:r>
            <a:r>
              <a:rPr lang="en-US" altLang="en-US" sz="1400">
                <a:latin typeface="Times New Roman" panose="02020603050405020304" charset="0"/>
                <a:cs typeface="Times New Roman" panose="02020603050405020304" charset="0"/>
              </a:rPr>
              <a:t>,</a:t>
            </a:r>
            <a:r>
              <a:rPr lang="ru-RU" altLang="en-US" sz="1400">
                <a:latin typeface="Times New Roman" panose="02020603050405020304" charset="0"/>
                <a:cs typeface="Times New Roman" panose="02020603050405020304" charset="0"/>
              </a:rPr>
              <a:t> у кого нет многолетнего опыта программирования на Python. </a:t>
            </a:r>
            <a:endParaRPr lang="ru-RU" altLang="en-US" sz="140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539750" algn="just" eaLnBrk="1" latinLnBrk="0" hangingPunct="1">
              <a:lnSpc>
                <a:spcPct val="150000"/>
              </a:lnSpc>
              <a:spcBef>
                <a:spcPts val="0"/>
              </a:spcBef>
              <a:buNone/>
            </a:pPr>
            <a:r>
              <a:rPr lang="ru-RU" altLang="en-US" sz="1400">
                <a:latin typeface="Times New Roman" panose="02020603050405020304" charset="0"/>
                <a:cs typeface="Times New Roman" panose="02020603050405020304" charset="0"/>
              </a:rPr>
              <a:t>Цель - предоставить каждому пользователю возможность настройки своего помощника, приблизив функциональность к уровню лидеров рынка, таких как Яндекс и Сбер. </a:t>
            </a:r>
            <a:endParaRPr lang="ru-RU" altLang="en-US" sz="140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539750" algn="just" eaLnBrk="1" latinLnBrk="0" hangingPunct="1">
              <a:lnSpc>
                <a:spcPct val="150000"/>
              </a:lnSpc>
              <a:spcBef>
                <a:spcPts val="0"/>
              </a:spcBef>
              <a:buNone/>
            </a:pPr>
            <a:r>
              <a:rPr lang="ru-RU" altLang="en-US" sz="1400">
                <a:latin typeface="Times New Roman" panose="02020603050405020304" charset="0"/>
                <a:cs typeface="Times New Roman" panose="02020603050405020304" charset="0"/>
              </a:rPr>
              <a:t>В разработке активно использовался телеграм-бот Нейрокот с интеграцией Chat GPT 4 для оптимизации кода, взяв за основу мои предыдущие проекты и знания, полученные из курсов по Python и нейросетям.</a:t>
            </a:r>
            <a:endParaRPr lang="ru-RU" altLang="en-US" sz="1400"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100" name="Изображение 99"/>
          <p:cNvPicPr/>
          <p:nvPr/>
        </p:nvPicPr>
        <p:blipFill>
          <a:blip r:embed="rId1"/>
          <a:stretch>
            <a:fillRect/>
          </a:stretch>
        </p:blipFill>
        <p:spPr>
          <a:xfrm>
            <a:off x="5134610" y="1787525"/>
            <a:ext cx="6551930" cy="417830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09600" y="314325"/>
            <a:ext cx="10972800" cy="754380"/>
          </a:xfrm>
        </p:spPr>
        <p:txBody>
          <a:bodyPr/>
          <a:p>
            <a:pPr algn="ctr"/>
            <a:r>
              <a:rPr lang="ru-RU" altLang="en-US" sz="2400" b="1">
                <a:ln/>
                <a:solidFill>
                  <a:schemeClr val="tx1"/>
                </a:solidFill>
                <a:effectLst/>
                <a:latin typeface="Times New Roman" panose="02020603050405020304" charset="0"/>
                <a:cs typeface="Times New Roman" panose="02020603050405020304" charset="0"/>
              </a:rPr>
              <a:t>Задачи</a:t>
            </a:r>
            <a:endParaRPr lang="ru-RU" altLang="en-US" sz="2400" b="1">
              <a:ln/>
              <a:solidFill>
                <a:schemeClr val="tx1"/>
              </a:solidFill>
              <a:effectLst/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" name="Замещающее содержимое 2"/>
          <p:cNvSpPr>
            <a:spLocks noGrp="1"/>
          </p:cNvSpPr>
          <p:nvPr>
            <p:ph idx="1"/>
          </p:nvPr>
        </p:nvSpPr>
        <p:spPr>
          <a:xfrm>
            <a:off x="6753225" y="1793875"/>
            <a:ext cx="4678045" cy="4076700"/>
          </a:xfrm>
        </p:spPr>
        <p:txBody>
          <a:bodyPr/>
          <a:p>
            <a:pPr marL="0" algn="just" eaLnBrk="1" latinLnBrk="0" hangingPunct="1">
              <a:lnSpc>
                <a:spcPct val="150000"/>
              </a:lnSpc>
              <a:spcBef>
                <a:spcPts val="0"/>
              </a:spcBef>
              <a:buClrTx/>
              <a:buSzTx/>
              <a:buAutoNum type="arabicPeriod"/>
            </a:pPr>
            <a:r>
              <a:rPr lang="en-US" sz="1400">
                <a:latin typeface="Times New Roman" panose="02020603050405020304" charset="0"/>
                <a:cs typeface="Times New Roman" panose="02020603050405020304" charset="0"/>
              </a:rPr>
              <a:t>Создать максимально удобный в редактировании и устойчивый в эксплуатации голосовой помощник на основе ранней версии данного проекта.</a:t>
            </a:r>
            <a:endParaRPr lang="en-US" sz="1400">
              <a:latin typeface="Times New Roman" panose="02020603050405020304" charset="0"/>
              <a:cs typeface="Times New Roman" panose="02020603050405020304" charset="0"/>
            </a:endParaRPr>
          </a:p>
          <a:p>
            <a:pPr marL="0" algn="just" eaLnBrk="1" latinLnBrk="0" hangingPunct="1">
              <a:lnSpc>
                <a:spcPct val="150000"/>
              </a:lnSpc>
              <a:spcBef>
                <a:spcPts val="0"/>
              </a:spcBef>
              <a:buClrTx/>
              <a:buSzTx/>
              <a:buAutoNum type="arabicPeriod"/>
            </a:pPr>
            <a:r>
              <a:rPr lang="en-US" sz="1400">
                <a:latin typeface="Times New Roman" panose="02020603050405020304" charset="0"/>
                <a:cs typeface="Times New Roman" panose="02020603050405020304" charset="0"/>
              </a:rPr>
              <a:t>Внедрить Google переводчик, усовершенствовав его до полностью голосового перевода.</a:t>
            </a:r>
            <a:endParaRPr lang="en-US" sz="1400">
              <a:latin typeface="Times New Roman" panose="02020603050405020304" charset="0"/>
              <a:cs typeface="Times New Roman" panose="02020603050405020304" charset="0"/>
            </a:endParaRPr>
          </a:p>
          <a:p>
            <a:pPr marL="0" algn="just" eaLnBrk="1" latinLnBrk="0" hangingPunct="1">
              <a:lnSpc>
                <a:spcPct val="150000"/>
              </a:lnSpc>
              <a:spcBef>
                <a:spcPts val="0"/>
              </a:spcBef>
              <a:buClrTx/>
              <a:buSzTx/>
              <a:buFontTx/>
              <a:buAutoNum type="arabicPeriod"/>
            </a:pPr>
            <a:r>
              <a:rPr lang="en-US" sz="1400">
                <a:latin typeface="Times New Roman" panose="02020603050405020304" charset="0"/>
                <a:cs typeface="Times New Roman" panose="02020603050405020304" charset="0"/>
              </a:rPr>
              <a:t>Задействовать в своей программе код по взаимодействию голосового помощника с нейросетью </a:t>
            </a:r>
            <a:r>
              <a:rPr lang="en-US" sz="1400">
                <a:latin typeface="Times New Roman" panose="02020603050405020304" charset="0"/>
                <a:cs typeface="Times New Roman" panose="02020603050405020304" charset="0"/>
                <a:sym typeface="+mn-ea"/>
              </a:rPr>
              <a:t>Chat GPT 3.5.</a:t>
            </a:r>
            <a:endParaRPr lang="en-US" sz="1400"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  <a:p>
            <a:pPr marL="0" algn="just" eaLnBrk="1" latinLnBrk="0" hangingPunct="1">
              <a:lnSpc>
                <a:spcPct val="150000"/>
              </a:lnSpc>
              <a:spcBef>
                <a:spcPts val="0"/>
              </a:spcBef>
              <a:buClrTx/>
              <a:buSzTx/>
              <a:buAutoNum type="arabicPeriod"/>
            </a:pPr>
            <a:r>
              <a:rPr lang="en-US" sz="1400">
                <a:latin typeface="Times New Roman" panose="02020603050405020304" charset="0"/>
                <a:cs typeface="Times New Roman" panose="02020603050405020304" charset="0"/>
                <a:sym typeface="+mn-ea"/>
              </a:rPr>
              <a:t>Подключить минимум пятнадцать команд голосового помощника.</a:t>
            </a:r>
            <a:endParaRPr lang="en-US" sz="1400"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  <a:p>
            <a:pPr marL="0" algn="just" eaLnBrk="1" latinLnBrk="0" hangingPunct="1">
              <a:lnSpc>
                <a:spcPct val="150000"/>
              </a:lnSpc>
              <a:spcBef>
                <a:spcPts val="0"/>
              </a:spcBef>
              <a:buClrTx/>
              <a:buSzTx/>
              <a:buAutoNum type="arabicPeriod"/>
            </a:pPr>
            <a:r>
              <a:rPr lang="en-US" sz="1400">
                <a:latin typeface="Times New Roman" panose="02020603050405020304" charset="0"/>
                <a:cs typeface="Times New Roman" panose="02020603050405020304" charset="0"/>
                <a:sym typeface="+mn-ea"/>
              </a:rPr>
              <a:t>Добиться абсолютно полного голосового управления во всех функциях программы.</a:t>
            </a:r>
            <a:endParaRPr lang="en-US" sz="1400"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p:pic>
        <p:nvPicPr>
          <p:cNvPr id="101" name="Изображение 100"/>
          <p:cNvPicPr/>
          <p:nvPr/>
        </p:nvPicPr>
        <p:blipFill>
          <a:blip r:embed="rId1"/>
          <a:stretch>
            <a:fillRect/>
          </a:stretch>
        </p:blipFill>
        <p:spPr>
          <a:xfrm>
            <a:off x="495300" y="2157730"/>
            <a:ext cx="5848350" cy="360807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Заголовок 3"/>
          <p:cNvSpPr>
            <a:spLocks noGrp="1"/>
          </p:cNvSpPr>
          <p:nvPr>
            <p:ph type="title"/>
          </p:nvPr>
        </p:nvSpPr>
        <p:spPr/>
        <p:txBody>
          <a:bodyPr/>
          <a:p>
            <a:pPr algn="ctr"/>
            <a:r>
              <a:rPr lang="ru-RU" altLang="en-US" sz="2400" b="1">
                <a:latin typeface="Times New Roman" panose="02020603050405020304" charset="0"/>
                <a:cs typeface="Times New Roman" panose="02020603050405020304" charset="0"/>
              </a:rPr>
              <a:t>Файл timer_functions</a:t>
            </a:r>
            <a:endParaRPr lang="ru-RU" altLang="en-US" sz="2400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28" name="Изображение 28" descr="Снимок экрана 2024-04-04 07401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43150" y="773430"/>
            <a:ext cx="7124700" cy="570674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Заголовок 3"/>
          <p:cNvSpPr>
            <a:spLocks noGrp="1"/>
          </p:cNvSpPr>
          <p:nvPr>
            <p:ph type="title"/>
          </p:nvPr>
        </p:nvSpPr>
        <p:spPr/>
        <p:txBody>
          <a:bodyPr/>
          <a:p>
            <a:pPr algn="ctr"/>
            <a:r>
              <a:rPr lang="ru-RU" altLang="en-US" sz="2400" b="1">
                <a:latin typeface="Times New Roman" panose="02020603050405020304" charset="0"/>
                <a:cs typeface="Times New Roman" panose="02020603050405020304" charset="0"/>
              </a:rPr>
              <a:t>Файл website_opener</a:t>
            </a:r>
            <a:endParaRPr lang="ru-RU" altLang="en-US" sz="2400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33" name="Изображение 33" descr="Снимок экрана 2024-04-15 233225"/>
          <p:cNvPicPr>
            <a:picLocks noChangeAspect="1"/>
          </p:cNvPicPr>
          <p:nvPr/>
        </p:nvPicPr>
        <p:blipFill>
          <a:blip r:embed="rId1"/>
          <a:srcRect b="40475"/>
          <a:stretch>
            <a:fillRect/>
          </a:stretch>
        </p:blipFill>
        <p:spPr>
          <a:xfrm>
            <a:off x="542925" y="1321435"/>
            <a:ext cx="4495800" cy="4615180"/>
          </a:xfrm>
          <a:prstGeom prst="rect">
            <a:avLst/>
          </a:prstGeom>
        </p:spPr>
      </p:pic>
      <p:pic>
        <p:nvPicPr>
          <p:cNvPr id="34" name="Изображение 34" descr="Снимок экрана 2024-04-15 23324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60340" y="1682115"/>
            <a:ext cx="6599555" cy="397002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Заголовок 3"/>
          <p:cNvSpPr>
            <a:spLocks noGrp="1"/>
          </p:cNvSpPr>
          <p:nvPr>
            <p:ph type="title"/>
          </p:nvPr>
        </p:nvSpPr>
        <p:spPr/>
        <p:txBody>
          <a:bodyPr/>
          <a:p>
            <a:pPr algn="ctr"/>
            <a:r>
              <a:rPr lang="ru-RU" altLang="en-US" sz="2400" b="1">
                <a:latin typeface="Times New Roman" panose="02020603050405020304" charset="0"/>
                <a:cs typeface="Times New Roman" panose="02020603050405020304" charset="0"/>
              </a:rPr>
              <a:t>Файл weather_forecast</a:t>
            </a:r>
            <a:endParaRPr lang="ru-RU" altLang="en-US" sz="2400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32" name="Изображение 32" descr="Снимок экрана 2024-04-15 23315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600" y="1696720"/>
            <a:ext cx="10231120" cy="457898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p>
            <a:pPr algn="ctr"/>
            <a:r>
              <a:rPr lang="ru-RU" altLang="en-US" sz="2400" b="1">
                <a:latin typeface="Times New Roman" panose="02020603050405020304" charset="0"/>
                <a:cs typeface="Times New Roman" panose="02020603050405020304" charset="0"/>
              </a:rPr>
              <a:t>Файл translate</a:t>
            </a:r>
            <a:endParaRPr lang="ru-RU" altLang="en-US" sz="2400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30" name="Изображение 30" descr="Снимок экрана 2024-04-15 23291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9708" y="1243965"/>
            <a:ext cx="5271135" cy="5189220"/>
          </a:xfrm>
          <a:prstGeom prst="rect">
            <a:avLst/>
          </a:prstGeom>
        </p:spPr>
      </p:pic>
      <p:pic>
        <p:nvPicPr>
          <p:cNvPr id="31" name="Изображение 31" descr="Снимок экрана 2024-04-15 23294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13400" y="2820670"/>
            <a:ext cx="6449695" cy="203581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p>
            <a:pPr algn="ctr"/>
            <a:r>
              <a:rPr lang="ru-RU" altLang="en-US" sz="2400" b="1"/>
              <a:t>Файл folderes</a:t>
            </a:r>
            <a:endParaRPr lang="ru-RU" altLang="en-US" sz="2400" b="1"/>
          </a:p>
        </p:txBody>
      </p:sp>
      <p:pic>
        <p:nvPicPr>
          <p:cNvPr id="26" name="Изображение 26" descr="Снимок экрана 2024-04-04 07383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4983" y="1262698"/>
            <a:ext cx="4457065" cy="4751705"/>
          </a:xfrm>
          <a:prstGeom prst="rect">
            <a:avLst/>
          </a:prstGeom>
        </p:spPr>
      </p:pic>
      <p:pic>
        <p:nvPicPr>
          <p:cNvPr id="27" name="Изображение 27" descr="Снимок экрана 2024-04-04 07390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85435" y="1263015"/>
            <a:ext cx="6292215" cy="475170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p>
            <a:pPr algn="ctr"/>
            <a:r>
              <a:rPr lang="ru-RU" altLang="en-US" sz="2400" b="1">
                <a:latin typeface="Times New Roman" panose="02020603050405020304" charset="0"/>
                <a:cs typeface="Times New Roman" panose="02020603050405020304" charset="0"/>
              </a:rPr>
              <a:t>Файл ai_1</a:t>
            </a:r>
            <a:endParaRPr lang="ru-RU" altLang="en-US" sz="2400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25" name="Изображение 25" descr="Снимок экрана 2024-04-04 07363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600" y="1408430"/>
            <a:ext cx="5077460" cy="4993640"/>
          </a:xfrm>
          <a:prstGeom prst="rect">
            <a:avLst/>
          </a:prstGeom>
        </p:spPr>
      </p:pic>
      <p:pic>
        <p:nvPicPr>
          <p:cNvPr id="29" name="Изображение 29" descr="Снимок экрана 2024-04-04 07364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4105" y="1408430"/>
            <a:ext cx="5243830" cy="499300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p>
            <a:pPr algn="ctr"/>
            <a:r>
              <a:rPr lang="ru-RU" altLang="en-US" sz="2400" b="1">
                <a:latin typeface="Times New Roman" panose="02020603050405020304" charset="0"/>
                <a:cs typeface="Times New Roman" panose="02020603050405020304" charset="0"/>
              </a:rPr>
              <a:t>Главный файл voice_assistant</a:t>
            </a:r>
            <a:endParaRPr lang="ru-RU" altLang="en-US" sz="2400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35" name="Изображение 35" descr="Снимок экрана 2024-04-15 23352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3400" y="1433830"/>
            <a:ext cx="5314315" cy="4732020"/>
          </a:xfrm>
          <a:prstGeom prst="rect">
            <a:avLst/>
          </a:prstGeom>
        </p:spPr>
      </p:pic>
      <p:pic>
        <p:nvPicPr>
          <p:cNvPr id="36" name="Изображение 36" descr="Снимок экрана 2024-04-15 23354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07125" y="1433830"/>
            <a:ext cx="5540375" cy="473202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p>
            <a:pPr algn="ctr"/>
            <a:r>
              <a:rPr lang="ru-RU" altLang="en-US" sz="2400" b="1">
                <a:latin typeface="Times New Roman" panose="02020603050405020304" charset="0"/>
                <a:cs typeface="Times New Roman" panose="02020603050405020304" charset="0"/>
              </a:rPr>
              <a:t>Продолжение главного файла</a:t>
            </a:r>
            <a:endParaRPr lang="ru-RU" altLang="en-US" sz="2400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37" name="Изображение 37" descr="Снимок экрана 2024-04-15 23372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7250" y="1322705"/>
            <a:ext cx="4848225" cy="5013325"/>
          </a:xfrm>
          <a:prstGeom prst="rect">
            <a:avLst/>
          </a:prstGeom>
        </p:spPr>
      </p:pic>
      <p:pic>
        <p:nvPicPr>
          <p:cNvPr id="38" name="Изображение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5905" y="1322705"/>
            <a:ext cx="4370070" cy="5013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p>
            <a:pPr algn="ctr"/>
            <a:r>
              <a:rPr lang="ru-RU" altLang="en-US" sz="2400" b="1">
                <a:latin typeface="Times New Roman" panose="02020603050405020304" charset="0"/>
                <a:cs typeface="Times New Roman" panose="02020603050405020304" charset="0"/>
              </a:rPr>
              <a:t>Завершение главного файла</a:t>
            </a:r>
            <a:endParaRPr lang="ru-RU" altLang="en-US" sz="2400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39" name="Изображение 39" descr="Снимок экрана 2024-04-15 23403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02890" y="1129665"/>
            <a:ext cx="6586220" cy="5103495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p>
            <a:pPr algn="ctr"/>
            <a:r>
              <a:rPr lang="ru-RU" altLang="en-US" sz="2400" b="1">
                <a:latin typeface="Times New Roman" panose="02020603050405020304" charset="0"/>
                <a:cs typeface="Times New Roman" panose="02020603050405020304" charset="0"/>
              </a:rPr>
              <a:t>Заключение</a:t>
            </a:r>
            <a:endParaRPr lang="ru-RU" altLang="en-US" sz="2400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" name="Замещающее содержимое 2"/>
          <p:cNvSpPr>
            <a:spLocks noGrp="1"/>
          </p:cNvSpPr>
          <p:nvPr>
            <p:ph idx="1"/>
          </p:nvPr>
        </p:nvSpPr>
        <p:spPr>
          <a:xfrm>
            <a:off x="609600" y="1516380"/>
            <a:ext cx="10533380" cy="4639945"/>
          </a:xfrm>
        </p:spPr>
        <p:txBody>
          <a:bodyPr/>
          <a:p>
            <a:pPr marL="0" indent="539750" algn="just" eaLnBrk="1" latinLnBrk="0" hangingPunct="1">
              <a:lnSpc>
                <a:spcPct val="150000"/>
              </a:lnSpc>
              <a:spcBef>
                <a:spcPts val="0"/>
              </a:spcBef>
              <a:buNone/>
            </a:pPr>
            <a:r>
              <a:rPr lang="en-US" altLang="en-US" sz="1400">
                <a:latin typeface="Times New Roman" panose="02020603050405020304" charset="0"/>
                <a:cs typeface="Times New Roman" panose="02020603050405020304" charset="0"/>
              </a:rPr>
              <a:t>В ходе интенсивных исследований и экспериментов с кодированием был создан многофункциональный голосовой помощник. Этот помощник интегрирован с нейросетью и обладает функциональностью Google Переводчика, расширяя возможности взаимодействия с пользователем. В настоящее время помощник способен выполнить восемнадцать различных команд, включая приветствие и прощание, которые рассматриваются как единая команда.</a:t>
            </a:r>
            <a:endParaRPr lang="en-US" altLang="en-US" sz="140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539750" algn="just" eaLnBrk="1" latinLnBrk="0" hangingPunct="1">
              <a:lnSpc>
                <a:spcPct val="150000"/>
              </a:lnSpc>
              <a:spcBef>
                <a:spcPts val="0"/>
              </a:spcBef>
              <a:buNone/>
            </a:pPr>
            <a:r>
              <a:rPr lang="en-US" altLang="en-US" sz="1400">
                <a:latin typeface="Times New Roman" panose="02020603050405020304" charset="0"/>
                <a:cs typeface="Times New Roman" panose="02020603050405020304" charset="0"/>
              </a:rPr>
              <a:t>Программа продемонстрировала гибкость в настройке и расширении функционала, однако некоторые трудности с устойчивостью проявляются при высоких нагрузках, что будет улучшено в будущих обновлениях проекта.</a:t>
            </a:r>
            <a:endParaRPr lang="en-US" altLang="en-US" sz="140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539750" algn="just" eaLnBrk="1" latinLnBrk="0" hangingPunct="1">
              <a:lnSpc>
                <a:spcPct val="150000"/>
              </a:lnSpc>
              <a:spcBef>
                <a:spcPts val="0"/>
              </a:spcBef>
              <a:buNone/>
            </a:pPr>
            <a:r>
              <a:rPr lang="en-US" altLang="en-US" sz="1400">
                <a:latin typeface="Times New Roman" panose="02020603050405020304" charset="0"/>
                <a:cs typeface="Times New Roman" panose="02020603050405020304" charset="0"/>
              </a:rPr>
              <a:t>Основным достижением стало установление равновесия между управлением компьютерными функциями и взаимодействием с интернет-сервисами — задача, которая часто становится препятствием для современных голосовых помощников.</a:t>
            </a:r>
            <a:endParaRPr lang="en-US" altLang="en-US" sz="140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539750" algn="just" eaLnBrk="1" latinLnBrk="0" hangingPunct="1">
              <a:lnSpc>
                <a:spcPct val="150000"/>
              </a:lnSpc>
              <a:spcBef>
                <a:spcPts val="0"/>
              </a:spcBef>
              <a:buNone/>
            </a:pPr>
            <a:r>
              <a:rPr lang="en-US" altLang="en-US" sz="1400">
                <a:latin typeface="Times New Roman" panose="02020603050405020304" charset="0"/>
                <a:cs typeface="Times New Roman" panose="02020603050405020304" charset="0"/>
              </a:rPr>
              <a:t>Вопреки некоторым специфическим требованиям, таким как необходимость произносить названия городов в именительном падеже для прогноза погоды и особенности перевода с использованием предлога "на", основная цель проекта была достигнута: реализация полноценного голосового управления функционалом помощника.</a:t>
            </a:r>
            <a:endParaRPr lang="en-US" altLang="en-US" sz="140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539750" algn="just" eaLnBrk="1" latinLnBrk="0" hangingPunct="1">
              <a:lnSpc>
                <a:spcPct val="150000"/>
              </a:lnSpc>
              <a:spcBef>
                <a:spcPts val="0"/>
              </a:spcBef>
              <a:buNone/>
            </a:pPr>
            <a:r>
              <a:rPr lang="en-US" altLang="en-US" sz="1400">
                <a:latin typeface="Times New Roman" panose="02020603050405020304" charset="0"/>
                <a:cs typeface="Times New Roman" panose="02020603050405020304" charset="0"/>
              </a:rPr>
              <a:t>Этот проект является значительным шагом вперед в области голосовых интерфейсов, предоставляя основу для дальнейшего развития и усовершенствования в рамках нашего стремления к созданию интуитивно понятных и эффективных пользовательских технологий.</a:t>
            </a:r>
            <a:endParaRPr lang="en-US" altLang="en-US" sz="1400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02" name="Изображение 101"/>
          <p:cNvPicPr/>
          <p:nvPr/>
        </p:nvPicPr>
        <p:blipFill>
          <a:blip r:embed="rId1"/>
          <a:stretch>
            <a:fillRect/>
          </a:stretch>
        </p:blipFill>
        <p:spPr>
          <a:xfrm>
            <a:off x="732155" y="0"/>
            <a:ext cx="10727690" cy="685863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855980" y="3138170"/>
            <a:ext cx="10972800" cy="582613"/>
          </a:xfrm>
        </p:spPr>
        <p:txBody>
          <a:bodyPr/>
          <a:p>
            <a:pPr algn="ctr"/>
            <a:r>
              <a:rPr lang="ru-RU" altLang="en-US" sz="3200">
                <a:solidFill>
                  <a:schemeClr val="bg1"/>
                </a:solidFill>
              </a:rPr>
              <a:t>Благодарю за просмотр!</a:t>
            </a:r>
            <a:endParaRPr lang="ru-RU" altLang="en-US" sz="320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Gear Drives">
  <a:themeElements>
    <a:clrScheme name="Gear Drives 13">
      <a:dk1>
        <a:srgbClr val="000000"/>
      </a:dk1>
      <a:lt1>
        <a:srgbClr val="FFFFFF"/>
      </a:lt1>
      <a:dk2>
        <a:srgbClr val="000000"/>
      </a:dk2>
      <a:lt2>
        <a:srgbClr val="969696"/>
      </a:lt2>
      <a:accent1>
        <a:srgbClr val="5F5F5F"/>
      </a:accent1>
      <a:accent2>
        <a:srgbClr val="969696"/>
      </a:accent2>
      <a:accent3>
        <a:srgbClr val="FFFFFF"/>
      </a:accent3>
      <a:accent4>
        <a:srgbClr val="000000"/>
      </a:accent4>
      <a:accent5>
        <a:srgbClr val="B6B6B6"/>
      </a:accent5>
      <a:accent6>
        <a:srgbClr val="878787"/>
      </a:accent6>
      <a:hlink>
        <a:srgbClr val="CC3300"/>
      </a:hlink>
      <a:folHlink>
        <a:srgbClr val="996600"/>
      </a:folHlink>
    </a:clrScheme>
    <a:fontScheme name="Gear Drives">
      <a:majorFont>
        <a:latin typeface="Arial"/>
        <a:ea typeface="SimSun"/>
        <a:cs typeface=""/>
      </a:majorFont>
      <a:minorFont>
        <a:latin typeface="Arial"/>
        <a:ea typeface="SimSun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accent2"/>
            </a:gs>
          </a:gsLst>
          <a:lin ang="5400000" scaled="1"/>
        </a:gradFill>
        <a:ln w="9525" cap="flat" cmpd="sng" algn="ctr">
          <a:solidFill>
            <a:schemeClr val="accent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SimSun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accent2"/>
            </a:gs>
          </a:gsLst>
          <a:lin ang="5400000" scaled="1"/>
        </a:gradFill>
        <a:ln w="9525" cap="flat" cmpd="sng" algn="ctr">
          <a:solidFill>
            <a:schemeClr val="accent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SimSun" panose="02010600030101010101" pitchFamily="2" charset="-122"/>
          </a:defRPr>
        </a:defPPr>
      </a:lstStyle>
    </a:lnDef>
  </a:objectDefaults>
  <a:extraClrSchemeLst>
    <a:extraClrScheme>
      <a:clrScheme name="Gear Drives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ear Drives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ear Drives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ear Drives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ear Drives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ear Drives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ear Drives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ear Drives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ear Drives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ear Drives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ear Drives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ear Drives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ear Drives 13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5F5F5F"/>
        </a:accent1>
        <a:accent2>
          <a:srgbClr val="969696"/>
        </a:accent2>
        <a:accent3>
          <a:srgbClr val="FFFFFF"/>
        </a:accent3>
        <a:accent4>
          <a:srgbClr val="000000"/>
        </a:accent4>
        <a:accent5>
          <a:srgbClr val="B6B6B6"/>
        </a:accent5>
        <a:accent6>
          <a:srgbClr val="878787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微软雅黑"/>
        <a:ea typeface=""/>
        <a:cs typeface=""/>
        <a:font script="Jpan" typeface="游ゴシック Light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微软雅黑"/>
        <a:ea typeface=""/>
        <a:cs typeface=""/>
        <a:font script="Jpan" typeface="游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3258</Words>
  <Application>WPS Presentation</Application>
  <PresentationFormat>宽屏</PresentationFormat>
  <Paragraphs>60</Paragraphs>
  <Slides>14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14</vt:i4>
      </vt:variant>
    </vt:vector>
  </HeadingPairs>
  <TitlesOfParts>
    <vt:vector size="26" baseType="lpstr">
      <vt:lpstr>Arial</vt:lpstr>
      <vt:lpstr>SimSun</vt:lpstr>
      <vt:lpstr>Wingdings</vt:lpstr>
      <vt:lpstr>Calibri Light</vt:lpstr>
      <vt:lpstr>Microsoft YaHei</vt:lpstr>
      <vt:lpstr>Arial Unicode MS</vt:lpstr>
      <vt:lpstr>Calibri</vt:lpstr>
      <vt:lpstr>Arial Black</vt:lpstr>
      <vt:lpstr>Candara</vt:lpstr>
      <vt:lpstr>Bahnschrift Light</vt:lpstr>
      <vt:lpstr>Times New Roman</vt:lpstr>
      <vt:lpstr>Gear Drives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>дмитрий Кондратьев</cp:lastModifiedBy>
  <cp:revision>3</cp:revision>
  <dcterms:created xsi:type="dcterms:W3CDTF">2024-04-17T15:06:13Z</dcterms:created>
  <dcterms:modified xsi:type="dcterms:W3CDTF">2024-04-17T19:19:52Z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1049-12.2.0.16731</vt:lpwstr>
  </property>
  <property fmtid="{D5CDD505-2E9C-101B-9397-08002B2CF9AE}" pid="3" name="ICV">
    <vt:lpwstr>173D72E37F9847EF9CDF2A43F8764D1D_11</vt:lpwstr>
  </property>
</Properties>
</file>